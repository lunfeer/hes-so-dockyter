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3"/>
  </p:notesMasterIdLst>
  <p:sldIdLst>
    <p:sldId id="256" r:id="rId2"/>
    <p:sldId id="257" r:id="rId3"/>
    <p:sldId id="282" r:id="rId4"/>
    <p:sldId id="283" r:id="rId5"/>
    <p:sldId id="284" r:id="rId6"/>
    <p:sldId id="288" r:id="rId7"/>
    <p:sldId id="285" r:id="rId8"/>
    <p:sldId id="286" r:id="rId9"/>
    <p:sldId id="287" r:id="rId10"/>
    <p:sldId id="280" r:id="rId11"/>
    <p:sldId id="281" r:id="rId12"/>
  </p:sldIdLst>
  <p:sldSz cx="9144000" cy="5143500" type="screen16x9"/>
  <p:notesSz cx="6858000" cy="9144000"/>
  <p:embeddedFontLst>
    <p:embeddedFont>
      <p:font typeface="Livvic Light" pitchFamily="2" charset="0"/>
      <p:regular r:id="rId14"/>
      <p:italic r:id="rId15"/>
    </p:embeddedFont>
    <p:embeddedFont>
      <p:font typeface="Maven Pro" panose="020B0604020202020204" charset="0"/>
      <p:regular r:id="rId16"/>
      <p:bold r:id="rId17"/>
    </p:embeddedFont>
    <p:embeddedFont>
      <p:font typeface="Nunito Light" pitchFamily="2" charset="0"/>
      <p:regular r:id="rId18"/>
      <p:italic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  <p:embeddedFont>
      <p:font typeface="Share Tech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3B3CE9-5B53-482A-8B6A-324356E59256}">
  <a:tblStyle styleId="{A93B3CE9-5B53-482A-8B6A-324356E592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4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32" name="Google Shape;432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>
          <a:extLst>
            <a:ext uri="{FF2B5EF4-FFF2-40B4-BE49-F238E27FC236}">
              <a16:creationId xmlns:a16="http://schemas.microsoft.com/office/drawing/2014/main" id="{D1DE13DE-11DB-02D1-3C55-C4F43030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>
            <a:extLst>
              <a:ext uri="{FF2B5EF4-FFF2-40B4-BE49-F238E27FC236}">
                <a16:creationId xmlns:a16="http://schemas.microsoft.com/office/drawing/2014/main" id="{30B366E9-D903-E3AB-43C7-B3C26DCD6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>
            <a:extLst>
              <a:ext uri="{FF2B5EF4-FFF2-40B4-BE49-F238E27FC236}">
                <a16:creationId xmlns:a16="http://schemas.microsoft.com/office/drawing/2014/main" id="{A8446BC2-4E6A-5BC4-F36C-8A121695B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692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>
          <a:extLst>
            <a:ext uri="{FF2B5EF4-FFF2-40B4-BE49-F238E27FC236}">
              <a16:creationId xmlns:a16="http://schemas.microsoft.com/office/drawing/2014/main" id="{32D01E6B-B243-BE8A-C19F-D28A4850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>
            <a:extLst>
              <a:ext uri="{FF2B5EF4-FFF2-40B4-BE49-F238E27FC236}">
                <a16:creationId xmlns:a16="http://schemas.microsoft.com/office/drawing/2014/main" id="{A750EC56-2063-99C2-B7D8-0CD64A376B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>
            <a:extLst>
              <a:ext uri="{FF2B5EF4-FFF2-40B4-BE49-F238E27FC236}">
                <a16:creationId xmlns:a16="http://schemas.microsoft.com/office/drawing/2014/main" id="{6F26F42C-66BB-57AD-166E-02545E0877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8185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>
          <a:extLst>
            <a:ext uri="{FF2B5EF4-FFF2-40B4-BE49-F238E27FC236}">
              <a16:creationId xmlns:a16="http://schemas.microsoft.com/office/drawing/2014/main" id="{A9CC39AD-5908-C335-D909-8D4952152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>
            <a:extLst>
              <a:ext uri="{FF2B5EF4-FFF2-40B4-BE49-F238E27FC236}">
                <a16:creationId xmlns:a16="http://schemas.microsoft.com/office/drawing/2014/main" id="{3F293E14-756E-BF58-A948-B5928CA7AE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>
            <a:extLst>
              <a:ext uri="{FF2B5EF4-FFF2-40B4-BE49-F238E27FC236}">
                <a16:creationId xmlns:a16="http://schemas.microsoft.com/office/drawing/2014/main" id="{CA4E3143-BBED-A760-FB0D-3FD0B4D20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170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>
          <a:extLst>
            <a:ext uri="{FF2B5EF4-FFF2-40B4-BE49-F238E27FC236}">
              <a16:creationId xmlns:a16="http://schemas.microsoft.com/office/drawing/2014/main" id="{D37B7622-73FB-F18D-6F34-B1256BF6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>
            <a:extLst>
              <a:ext uri="{FF2B5EF4-FFF2-40B4-BE49-F238E27FC236}">
                <a16:creationId xmlns:a16="http://schemas.microsoft.com/office/drawing/2014/main" id="{61321A1F-F91A-DC8A-DCF8-3E2496C344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>
            <a:extLst>
              <a:ext uri="{FF2B5EF4-FFF2-40B4-BE49-F238E27FC236}">
                <a16:creationId xmlns:a16="http://schemas.microsoft.com/office/drawing/2014/main" id="{CBD5DECF-DC4D-16DE-B1B1-3E09CC7C2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814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>
          <a:extLst>
            <a:ext uri="{FF2B5EF4-FFF2-40B4-BE49-F238E27FC236}">
              <a16:creationId xmlns:a16="http://schemas.microsoft.com/office/drawing/2014/main" id="{E0F50697-ACA8-3030-2969-EE107042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>
            <a:extLst>
              <a:ext uri="{FF2B5EF4-FFF2-40B4-BE49-F238E27FC236}">
                <a16:creationId xmlns:a16="http://schemas.microsoft.com/office/drawing/2014/main" id="{7141782C-F631-97C8-D343-D80174019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>
            <a:extLst>
              <a:ext uri="{FF2B5EF4-FFF2-40B4-BE49-F238E27FC236}">
                <a16:creationId xmlns:a16="http://schemas.microsoft.com/office/drawing/2014/main" id="{3AF0E54F-DB78-06B7-8250-5B476908D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877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>
          <a:extLst>
            <a:ext uri="{FF2B5EF4-FFF2-40B4-BE49-F238E27FC236}">
              <a16:creationId xmlns:a16="http://schemas.microsoft.com/office/drawing/2014/main" id="{18EDDF2B-941B-6DA8-A642-D5D08DB00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>
            <a:extLst>
              <a:ext uri="{FF2B5EF4-FFF2-40B4-BE49-F238E27FC236}">
                <a16:creationId xmlns:a16="http://schemas.microsoft.com/office/drawing/2014/main" id="{99CB9CF1-FD2B-B7FF-A23E-960B3E14CF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>
            <a:extLst>
              <a:ext uri="{FF2B5EF4-FFF2-40B4-BE49-F238E27FC236}">
                <a16:creationId xmlns:a16="http://schemas.microsoft.com/office/drawing/2014/main" id="{A53EF08E-3235-D91A-1923-D7ECD8D493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5562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>
          <a:extLst>
            <a:ext uri="{FF2B5EF4-FFF2-40B4-BE49-F238E27FC236}">
              <a16:creationId xmlns:a16="http://schemas.microsoft.com/office/drawing/2014/main" id="{C8D84863-55BA-6EA8-CD78-61EFCB20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>
            <a:extLst>
              <a:ext uri="{FF2B5EF4-FFF2-40B4-BE49-F238E27FC236}">
                <a16:creationId xmlns:a16="http://schemas.microsoft.com/office/drawing/2014/main" id="{C2C73734-D71E-7583-0D8C-E7C10CDE1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>
            <a:extLst>
              <a:ext uri="{FF2B5EF4-FFF2-40B4-BE49-F238E27FC236}">
                <a16:creationId xmlns:a16="http://schemas.microsoft.com/office/drawing/2014/main" id="{CE521CEF-4B85-5C82-FE6D-E1F39EFD3B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4248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752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6c60e245bf_1_31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463" name="Google Shape;463;g6c60e245bf_1_31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1416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rgbClr val="E898A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rgbClr val="00CFCC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rgbClr val="E898A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rgbClr val="FF997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rgbClr val="00CFCC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4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>
            <a:spLocks noGrp="1"/>
          </p:cNvSpPr>
          <p:nvPr>
            <p:ph type="body" idx="1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body" idx="2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8829925" y="1123700"/>
            <a:ext cx="108650" cy="108625"/>
          </a:xfrm>
          <a:custGeom>
            <a:avLst/>
            <a:gdLst/>
            <a:ahLst/>
            <a:cxnLst/>
            <a:rect l="l" t="t" r="r" b="b"/>
            <a:pathLst>
              <a:path w="4346" h="4345" extrusionOk="0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9156250" y="1340450"/>
            <a:ext cx="111450" cy="110975"/>
          </a:xfrm>
          <a:custGeom>
            <a:avLst/>
            <a:gdLst/>
            <a:ahLst/>
            <a:cxnLst/>
            <a:rect l="l" t="t" r="r" b="b"/>
            <a:pathLst>
              <a:path w="4458" h="4439" extrusionOk="0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5809850" y="21440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4345" h="4345" extrusionOk="0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7079800" y="420088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952700" y="278513"/>
            <a:ext cx="44975" cy="44500"/>
          </a:xfrm>
          <a:custGeom>
            <a:avLst/>
            <a:gdLst/>
            <a:ahLst/>
            <a:cxnLst/>
            <a:rect l="l" t="t" r="r" b="b"/>
            <a:pathLst>
              <a:path w="1799" h="1780" extrusionOk="0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372450" y="-69325"/>
            <a:ext cx="155925" cy="155925"/>
          </a:xfrm>
          <a:custGeom>
            <a:avLst/>
            <a:gdLst/>
            <a:ahLst/>
            <a:cxnLst/>
            <a:rect l="l" t="t" r="r" b="b"/>
            <a:pathLst>
              <a:path w="6237" h="6237" extrusionOk="0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8464275" y="355050"/>
            <a:ext cx="155925" cy="156400"/>
          </a:xfrm>
          <a:custGeom>
            <a:avLst/>
            <a:gdLst/>
            <a:ahLst/>
            <a:cxnLst/>
            <a:rect l="l" t="t" r="r" b="b"/>
            <a:pathLst>
              <a:path w="6237" h="6256" extrusionOk="0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7264275" y="607363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298850" y="907625"/>
            <a:ext cx="155925" cy="155900"/>
          </a:xfrm>
          <a:custGeom>
            <a:avLst/>
            <a:gdLst/>
            <a:ahLst/>
            <a:cxnLst/>
            <a:rect l="l" t="t" r="r" b="b"/>
            <a:pathLst>
              <a:path w="6237" h="6236" extrusionOk="0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-83000" y="4540463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101475" y="4727738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66" r:id="rId3"/>
    <p:sldLayoutId id="2147483667" r:id="rId4"/>
    <p:sldLayoutId id="214748366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15E3628A-3801-50E2-C992-EFEFA618A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" y="0"/>
            <a:ext cx="9136315" cy="5143500"/>
          </a:xfrm>
          <a:prstGeom prst="rect">
            <a:avLst/>
          </a:prstGeom>
        </p:spPr>
      </p:pic>
      <p:sp>
        <p:nvSpPr>
          <p:cNvPr id="452" name="Google Shape;452;p25"/>
          <p:cNvSpPr/>
          <p:nvPr/>
        </p:nvSpPr>
        <p:spPr>
          <a:xfrm>
            <a:off x="2355692" y="3696328"/>
            <a:ext cx="8464" cy="2519663"/>
          </a:xfrm>
          <a:custGeom>
            <a:avLst/>
            <a:gdLst/>
            <a:ahLst/>
            <a:cxnLst/>
            <a:rect l="l" t="t" r="r" b="b"/>
            <a:pathLst>
              <a:path w="323" h="96152" extrusionOk="0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12" name="Google Shape;479;p27">
            <a:extLst>
              <a:ext uri="{FF2B5EF4-FFF2-40B4-BE49-F238E27FC236}">
                <a16:creationId xmlns:a16="http://schemas.microsoft.com/office/drawing/2014/main" id="{AD0B9451-392B-1E9E-B519-6D98AD0203FA}"/>
              </a:ext>
            </a:extLst>
          </p:cNvPr>
          <p:cNvSpPr txBox="1">
            <a:spLocks/>
          </p:cNvSpPr>
          <p:nvPr/>
        </p:nvSpPr>
        <p:spPr>
          <a:xfrm>
            <a:off x="611919" y="2154670"/>
            <a:ext cx="349600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1" noProof="0" dirty="0">
                <a:latin typeface="Roboto Condensed" panose="02000000000000000000" pitchFamily="2" charset="0"/>
                <a:ea typeface="Roboto Condensed" panose="02000000000000000000" pitchFamily="2" charset="0"/>
              </a:rPr>
              <a:t>Dockyter</a:t>
            </a:r>
          </a:p>
        </p:txBody>
      </p:sp>
      <p:sp>
        <p:nvSpPr>
          <p:cNvPr id="26" name="Google Shape;479;p27">
            <a:extLst>
              <a:ext uri="{FF2B5EF4-FFF2-40B4-BE49-F238E27FC236}">
                <a16:creationId xmlns:a16="http://schemas.microsoft.com/office/drawing/2014/main" id="{28B4ABD9-A1F8-2FD4-C0ED-C326E0DD10B1}"/>
              </a:ext>
            </a:extLst>
          </p:cNvPr>
          <p:cNvSpPr txBox="1">
            <a:spLocks/>
          </p:cNvSpPr>
          <p:nvPr/>
        </p:nvSpPr>
        <p:spPr>
          <a:xfrm>
            <a:off x="603451" y="3015676"/>
            <a:ext cx="3504475" cy="3460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500" noProof="0" dirty="0">
                <a:latin typeface="Roboto Condensed" panose="02000000000000000000" pitchFamily="2" charset="0"/>
                <a:ea typeface="Roboto Condensed" panose="02000000000000000000" pitchFamily="2" charset="0"/>
              </a:rPr>
              <a:t>Semester project</a:t>
            </a:r>
          </a:p>
        </p:txBody>
      </p:sp>
      <p:sp>
        <p:nvSpPr>
          <p:cNvPr id="27" name="Google Shape;479;p27">
            <a:extLst>
              <a:ext uri="{FF2B5EF4-FFF2-40B4-BE49-F238E27FC236}">
                <a16:creationId xmlns:a16="http://schemas.microsoft.com/office/drawing/2014/main" id="{79BD4140-F290-7238-AD64-9C90E68DBBC5}"/>
              </a:ext>
            </a:extLst>
          </p:cNvPr>
          <p:cNvSpPr txBox="1">
            <a:spLocks/>
          </p:cNvSpPr>
          <p:nvPr/>
        </p:nvSpPr>
        <p:spPr>
          <a:xfrm>
            <a:off x="1861612" y="3413122"/>
            <a:ext cx="1005085" cy="2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noProof="0" dirty="0">
                <a:latin typeface="Roboto Condensed" panose="02000000000000000000" pitchFamily="2" charset="0"/>
                <a:ea typeface="Roboto Condensed" panose="02000000000000000000" pitchFamily="2" charset="0"/>
              </a:rPr>
              <a:t>Masserey Simon</a:t>
            </a:r>
          </a:p>
        </p:txBody>
      </p:sp>
      <p:sp>
        <p:nvSpPr>
          <p:cNvPr id="2" name="AutoShape 2" descr="Docker Vector Logo - Download Free SVG Icon | Worldvectorlogo">
            <a:extLst>
              <a:ext uri="{FF2B5EF4-FFF2-40B4-BE49-F238E27FC236}">
                <a16:creationId xmlns:a16="http://schemas.microsoft.com/office/drawing/2014/main" id="{CF3627A4-97A7-0EE1-9E48-950493E5F9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" name="Image 5" descr="Une image contenant Graphique, graphisme, clipart, poisson&#10;&#10;Le contenu généré par l’IA peut être incorrect.">
            <a:extLst>
              <a:ext uri="{FF2B5EF4-FFF2-40B4-BE49-F238E27FC236}">
                <a16:creationId xmlns:a16="http://schemas.microsoft.com/office/drawing/2014/main" id="{E9C229B5-6919-90FF-AE77-790E8116C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028" y="235811"/>
            <a:ext cx="1642652" cy="1379828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A09B909-3C17-33CD-4493-B20D7E9C5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842" y="1721593"/>
            <a:ext cx="1418860" cy="164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 descr="Une image contenant capture d’écran, Police, Graphique, texte&#10;&#10;Le contenu généré par l’IA peut être incorrect.">
            <a:extLst>
              <a:ext uri="{FF2B5EF4-FFF2-40B4-BE49-F238E27FC236}">
                <a16:creationId xmlns:a16="http://schemas.microsoft.com/office/drawing/2014/main" id="{D5D1F200-62DC-21AA-7A4A-015BCA889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9" y="3188686"/>
            <a:ext cx="2220008" cy="1972107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PROJECT DESCRIPTION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A25C3A-5195-58AD-10CF-024EF6908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28" y="1330961"/>
            <a:ext cx="7439891" cy="2694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>
          <a:extLst>
            <a:ext uri="{FF2B5EF4-FFF2-40B4-BE49-F238E27FC236}">
              <a16:creationId xmlns:a16="http://schemas.microsoft.com/office/drawing/2014/main" id="{BC96FE30-2226-CF8A-F392-1A410997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>
            <a:extLst>
              <a:ext uri="{FF2B5EF4-FFF2-40B4-BE49-F238E27FC236}">
                <a16:creationId xmlns:a16="http://schemas.microsoft.com/office/drawing/2014/main" id="{767D9F17-2954-9271-B190-743C277BC78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noProof="0" dirty="0"/>
              <a:t>Target audience</a:t>
            </a:r>
          </a:p>
        </p:txBody>
      </p:sp>
      <p:sp>
        <p:nvSpPr>
          <p:cNvPr id="3" name="Google Shape;472;p27">
            <a:extLst>
              <a:ext uri="{FF2B5EF4-FFF2-40B4-BE49-F238E27FC236}">
                <a16:creationId xmlns:a16="http://schemas.microsoft.com/office/drawing/2014/main" id="{049EE930-97E8-D6DF-D8F8-1AC28FD359E8}"/>
              </a:ext>
            </a:extLst>
          </p:cNvPr>
          <p:cNvSpPr txBox="1">
            <a:spLocks/>
          </p:cNvSpPr>
          <p:nvPr/>
        </p:nvSpPr>
        <p:spPr>
          <a:xfrm>
            <a:off x="730328" y="1112260"/>
            <a:ext cx="4616197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fr-FR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</a:t>
            </a:r>
            <a:r>
              <a:rPr lang="en-GB" sz="1400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eams</a:t>
            </a:r>
            <a:r>
              <a:rPr lang="en-GB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with heavy or internal tools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Google Shape;472;p27">
            <a:extLst>
              <a:ext uri="{FF2B5EF4-FFF2-40B4-BE49-F238E27FC236}">
                <a16:creationId xmlns:a16="http://schemas.microsoft.com/office/drawing/2014/main" id="{4DE9E821-9343-21A5-EDC4-20BB0030483C}"/>
              </a:ext>
            </a:extLst>
          </p:cNvPr>
          <p:cNvSpPr txBox="1">
            <a:spLocks/>
          </p:cNvSpPr>
          <p:nvPr/>
        </p:nvSpPr>
        <p:spPr>
          <a:xfrm>
            <a:off x="730327" y="1612149"/>
            <a:ext cx="4298871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-GB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Students/teachers wanting reproducible notebooks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" name="Google Shape;472;p27">
            <a:extLst>
              <a:ext uri="{FF2B5EF4-FFF2-40B4-BE49-F238E27FC236}">
                <a16:creationId xmlns:a16="http://schemas.microsoft.com/office/drawing/2014/main" id="{0E2E7848-E26E-9234-08D4-FA7AD68799A3}"/>
              </a:ext>
            </a:extLst>
          </p:cNvPr>
          <p:cNvSpPr txBox="1">
            <a:spLocks/>
          </p:cNvSpPr>
          <p:nvPr/>
        </p:nvSpPr>
        <p:spPr>
          <a:xfrm>
            <a:off x="730326" y="2112038"/>
            <a:ext cx="4465129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-GB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Teams requiring consistent environments across machines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Google Shape;472;p27">
            <a:extLst>
              <a:ext uri="{FF2B5EF4-FFF2-40B4-BE49-F238E27FC236}">
                <a16:creationId xmlns:a16="http://schemas.microsoft.com/office/drawing/2014/main" id="{144CC132-EB07-AC23-E0D8-4C4E6AEF05DE}"/>
              </a:ext>
            </a:extLst>
          </p:cNvPr>
          <p:cNvSpPr txBox="1">
            <a:spLocks/>
          </p:cNvSpPr>
          <p:nvPr/>
        </p:nvSpPr>
        <p:spPr>
          <a:xfrm>
            <a:off x="730325" y="2611927"/>
            <a:ext cx="5165781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-GB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Teams wanting to run container via a platform (</a:t>
            </a:r>
            <a:r>
              <a:rPr lang="en-GB" sz="1400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JupyterHub</a:t>
            </a:r>
            <a:r>
              <a:rPr lang="en-GB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/Binder) 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18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>
          <a:extLst>
            <a:ext uri="{FF2B5EF4-FFF2-40B4-BE49-F238E27FC236}">
              <a16:creationId xmlns:a16="http://schemas.microsoft.com/office/drawing/2014/main" id="{7DACC738-3529-CD88-C629-AC728EC0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>
            <a:extLst>
              <a:ext uri="{FF2B5EF4-FFF2-40B4-BE49-F238E27FC236}">
                <a16:creationId xmlns:a16="http://schemas.microsoft.com/office/drawing/2014/main" id="{6A4D96F8-14F8-D83A-A0DD-B4A7E11D8F3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596208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noProof="0" dirty="0"/>
              <a:t>What is Dockyter trying to solve ?</a:t>
            </a:r>
          </a:p>
        </p:txBody>
      </p:sp>
      <p:sp>
        <p:nvSpPr>
          <p:cNvPr id="12" name="Google Shape;472;p27">
            <a:extLst>
              <a:ext uri="{FF2B5EF4-FFF2-40B4-BE49-F238E27FC236}">
                <a16:creationId xmlns:a16="http://schemas.microsoft.com/office/drawing/2014/main" id="{47447064-AD60-5733-F145-969AED75376A}"/>
              </a:ext>
            </a:extLst>
          </p:cNvPr>
          <p:cNvSpPr txBox="1">
            <a:spLocks/>
          </p:cNvSpPr>
          <p:nvPr/>
        </p:nvSpPr>
        <p:spPr>
          <a:xfrm>
            <a:off x="730328" y="1112260"/>
            <a:ext cx="4616197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-GB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Run complex tools through Docker directly in notebook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3" name="Google Shape;472;p27">
            <a:extLst>
              <a:ext uri="{FF2B5EF4-FFF2-40B4-BE49-F238E27FC236}">
                <a16:creationId xmlns:a16="http://schemas.microsoft.com/office/drawing/2014/main" id="{DB1F297A-E824-F6C4-C047-FF437A129379}"/>
              </a:ext>
            </a:extLst>
          </p:cNvPr>
          <p:cNvSpPr txBox="1">
            <a:spLocks/>
          </p:cNvSpPr>
          <p:nvPr/>
        </p:nvSpPr>
        <p:spPr>
          <a:xfrm>
            <a:off x="730327" y="1612149"/>
            <a:ext cx="4298871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fr-FR" sz="1400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Keep</a:t>
            </a:r>
            <a:r>
              <a:rPr lang="fr-FR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notebooks </a:t>
            </a:r>
            <a:r>
              <a:rPr lang="fr-FR" sz="1400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environment</a:t>
            </a:r>
            <a:r>
              <a:rPr lang="fr-FR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light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4" name="Google Shape;472;p27">
            <a:extLst>
              <a:ext uri="{FF2B5EF4-FFF2-40B4-BE49-F238E27FC236}">
                <a16:creationId xmlns:a16="http://schemas.microsoft.com/office/drawing/2014/main" id="{7F97259B-0BFA-A1C8-3EF0-9C7163D1B6AC}"/>
              </a:ext>
            </a:extLst>
          </p:cNvPr>
          <p:cNvSpPr txBox="1">
            <a:spLocks/>
          </p:cNvSpPr>
          <p:nvPr/>
        </p:nvSpPr>
        <p:spPr>
          <a:xfrm>
            <a:off x="730326" y="2112038"/>
            <a:ext cx="4465129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-GB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Reproducibility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5" name="Google Shape;472;p27">
            <a:extLst>
              <a:ext uri="{FF2B5EF4-FFF2-40B4-BE49-F238E27FC236}">
                <a16:creationId xmlns:a16="http://schemas.microsoft.com/office/drawing/2014/main" id="{2015C586-9030-820C-E8B8-D7A3F0C73609}"/>
              </a:ext>
            </a:extLst>
          </p:cNvPr>
          <p:cNvSpPr txBox="1">
            <a:spLocks/>
          </p:cNvSpPr>
          <p:nvPr/>
        </p:nvSpPr>
        <p:spPr>
          <a:xfrm>
            <a:off x="730325" y="2611927"/>
            <a:ext cx="5165781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-GB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Abstract the execution backend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6" name="Google Shape;472;p27">
            <a:extLst>
              <a:ext uri="{FF2B5EF4-FFF2-40B4-BE49-F238E27FC236}">
                <a16:creationId xmlns:a16="http://schemas.microsoft.com/office/drawing/2014/main" id="{FFA36993-E2C4-C0DB-ADFD-6437B7B5C3F6}"/>
              </a:ext>
            </a:extLst>
          </p:cNvPr>
          <p:cNvSpPr txBox="1">
            <a:spLocks/>
          </p:cNvSpPr>
          <p:nvPr/>
        </p:nvSpPr>
        <p:spPr>
          <a:xfrm>
            <a:off x="730324" y="3111816"/>
            <a:ext cx="5165781" cy="37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 Light"/>
              <a:buChar char="●"/>
              <a:defRPr sz="12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Light"/>
              <a:buChar char="○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Font typeface="Nunito Light"/>
              <a:buChar char="■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Does not ensure safety !</a:t>
            </a:r>
            <a:endParaRPr lang="en-US" sz="2000" b="1" dirty="0">
              <a:solidFill>
                <a:srgbClr val="FF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80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ll/>
      </p:transition>
    </mc:Choice>
    <mc:Fallback>
      <p:transition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>
          <a:extLst>
            <a:ext uri="{FF2B5EF4-FFF2-40B4-BE49-F238E27FC236}">
              <a16:creationId xmlns:a16="http://schemas.microsoft.com/office/drawing/2014/main" id="{1B3D2152-FED0-37F2-E63A-D4F3ADA3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>
            <a:extLst>
              <a:ext uri="{FF2B5EF4-FFF2-40B4-BE49-F238E27FC236}">
                <a16:creationId xmlns:a16="http://schemas.microsoft.com/office/drawing/2014/main" id="{7C265F27-5255-F3D6-DD43-36805B36B2D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596208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noProof="0" dirty="0"/>
              <a:t>Overview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9ACE998A-FD0B-54D4-1870-24C2B0EFD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25" y="1259697"/>
            <a:ext cx="7599095" cy="137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000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ll/>
      </p:transition>
    </mc:Choice>
    <mc:Fallback>
      <p:transition>
        <p:pull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>
          <a:extLst>
            <a:ext uri="{FF2B5EF4-FFF2-40B4-BE49-F238E27FC236}">
              <a16:creationId xmlns:a16="http://schemas.microsoft.com/office/drawing/2014/main" id="{D9A15859-DE62-CB43-CB2E-BF7FA404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>
            <a:extLst>
              <a:ext uri="{FF2B5EF4-FFF2-40B4-BE49-F238E27FC236}">
                <a16:creationId xmlns:a16="http://schemas.microsoft.com/office/drawing/2014/main" id="{44ABFC9A-5DC9-8595-2AC4-4C5AF13740C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596208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noProof="0" dirty="0"/>
              <a:t>Overview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5E97D1-37FE-9CB2-797E-3231F256B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167026"/>
            <a:ext cx="7721600" cy="31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30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ll/>
      </p:transition>
    </mc:Choice>
    <mc:Fallback>
      <p:transition>
        <p:pull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>
          <a:extLst>
            <a:ext uri="{FF2B5EF4-FFF2-40B4-BE49-F238E27FC236}">
              <a16:creationId xmlns:a16="http://schemas.microsoft.com/office/drawing/2014/main" id="{3A9BBD2C-9C5B-78EC-E314-DB6C3065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>
            <a:extLst>
              <a:ext uri="{FF2B5EF4-FFF2-40B4-BE49-F238E27FC236}">
                <a16:creationId xmlns:a16="http://schemas.microsoft.com/office/drawing/2014/main" id="{424C212E-0DE2-E5A6-0455-4422C8706EC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596208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noProof="0" dirty="0"/>
              <a:t>Config file &amp; Profiles</a:t>
            </a: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10188F23-F9FD-DDA6-F4E5-770BCDA99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75" y="1218783"/>
            <a:ext cx="7740650" cy="284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16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ll/>
      </p:transition>
    </mc:Choice>
    <mc:Fallback>
      <p:transition>
        <p:pull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>
          <a:extLst>
            <a:ext uri="{FF2B5EF4-FFF2-40B4-BE49-F238E27FC236}">
              <a16:creationId xmlns:a16="http://schemas.microsoft.com/office/drawing/2014/main" id="{BE5E141C-D949-2DC5-BEDE-20E35B13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>
            <a:extLst>
              <a:ext uri="{FF2B5EF4-FFF2-40B4-BE49-F238E27FC236}">
                <a16:creationId xmlns:a16="http://schemas.microsoft.com/office/drawing/2014/main" id="{4CB0F8AC-AD5F-0652-C84E-487D7FB36B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596208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noProof="0" dirty="0"/>
              <a:t>Tests and workflows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8AFF548-625F-6B80-BFCF-2F4491244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25" y="1240219"/>
            <a:ext cx="8160050" cy="291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31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ll/>
      </p:transition>
    </mc:Choice>
    <mc:Fallback>
      <p:transition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>
          <a:extLst>
            <a:ext uri="{FF2B5EF4-FFF2-40B4-BE49-F238E27FC236}">
              <a16:creationId xmlns:a16="http://schemas.microsoft.com/office/drawing/2014/main" id="{26BE7CC2-424B-DEE9-EEAD-5ECFA8BE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>
            <a:extLst>
              <a:ext uri="{FF2B5EF4-FFF2-40B4-BE49-F238E27FC236}">
                <a16:creationId xmlns:a16="http://schemas.microsoft.com/office/drawing/2014/main" id="{7A589920-8254-21EC-068A-306AB3A7BF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596208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noProof="0" dirty="0"/>
              <a:t>Security and API </a:t>
            </a:r>
          </a:p>
        </p:txBody>
      </p:sp>
    </p:spTree>
    <p:extLst>
      <p:ext uri="{BB962C8B-B14F-4D97-AF65-F5344CB8AC3E}">
        <p14:creationId xmlns:p14="http://schemas.microsoft.com/office/powerpoint/2010/main" val="3394528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ll/>
      </p:transition>
    </mc:Choice>
    <mc:Fallback>
      <p:transition>
        <p:pull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CONCLUSION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E2F4AFF-0546-48DD-A94A-AE4523639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650" b="90000" l="10000" r="90000">
                        <a14:foregroundMark x1="80600" y1="12800" x2="70300" y2="21550"/>
                        <a14:foregroundMark x1="70300" y1="21550" x2="78500" y2="32500"/>
                        <a14:foregroundMark x1="78500" y1="32500" x2="89000" y2="23750"/>
                        <a14:foregroundMark x1="89000" y1="23750" x2="80250" y2="13450"/>
                        <a14:foregroundMark x1="80250" y1="13450" x2="80250" y2="13450"/>
                        <a14:foregroundMark x1="66900" y1="28050" x2="67000" y2="28850"/>
                        <a14:foregroundMark x1="62800" y1="32250" x2="62800" y2="32250"/>
                        <a14:foregroundMark x1="63000" y1="32400" x2="63000" y2="32400"/>
                        <a14:foregroundMark x1="41750" y1="29400" x2="41750" y2="29400"/>
                        <a14:foregroundMark x1="38000" y1="26850" x2="37500" y2="26050"/>
                        <a14:foregroundMark x1="25500" y1="7600" x2="15750" y2="16900"/>
                        <a14:foregroundMark x1="15750" y1="16900" x2="24200" y2="27700"/>
                        <a14:foregroundMark x1="24200" y1="27700" x2="36450" y2="19700"/>
                        <a14:foregroundMark x1="36450" y1="19700" x2="27100" y2="7950"/>
                        <a14:foregroundMark x1="27100" y1="7950" x2="25050" y2="7650"/>
                        <a14:backgroundMark x1="52900" y1="51650" x2="52900" y2="51650"/>
                        <a14:backgroundMark x1="55250" y1="50550" x2="55250" y2="50550"/>
                        <a14:backgroundMark x1="54650" y1="50950" x2="54650" y2="50950"/>
                        <a14:backgroundMark x1="53650" y1="53600" x2="53650" y2="53600"/>
                        <a14:backgroundMark x1="53450" y1="51450" x2="53450" y2="51450"/>
                        <a14:backgroundMark x1="54050" y1="51300" x2="54050" y2="513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0" y="920894"/>
            <a:ext cx="3551855" cy="355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4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QUESTIONS ?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2976E5F-6220-4A88-AD9E-13A9C9623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19" y="989475"/>
            <a:ext cx="2867025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F9ACA70-2192-499C-B923-F48DF9DD2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00" b="99600" l="7925" r="94525">
                        <a14:foregroundMark x1="90700" y1="30000" x2="90700" y2="30000"/>
                        <a14:foregroundMark x1="91875" y1="62200" x2="91875" y2="62200"/>
                        <a14:foregroundMark x1="94525" y1="67100" x2="94525" y2="67100"/>
                        <a14:foregroundMark x1="84450" y1="71400" x2="85000" y2="98450"/>
                        <a14:foregroundMark x1="59650" y1="27650" x2="59450" y2="99600"/>
                        <a14:foregroundMark x1="36725" y1="27200" x2="36800" y2="70950"/>
                        <a14:foregroundMark x1="36800" y1="70950" x2="35075" y2="84750"/>
                        <a14:foregroundMark x1="35075" y1="84750" x2="35525" y2="95300"/>
                        <a14:foregroundMark x1="35525" y1="95300" x2="38325" y2="98050"/>
                        <a14:foregroundMark x1="14800" y1="21550" x2="17025" y2="67450"/>
                        <a14:foregroundMark x1="17025" y1="67450" x2="14900" y2="79150"/>
                        <a14:foregroundMark x1="14900" y1="79150" x2="14925" y2="90200"/>
                        <a14:foregroundMark x1="14925" y1="90200" x2="16250" y2="98450"/>
                        <a14:foregroundMark x1="7925" y1="63900" x2="8050" y2="69050"/>
                        <a14:foregroundMark x1="60975" y1="55950" x2="60275" y2="77350"/>
                        <a14:foregroundMark x1="65075" y1="56800" x2="67700" y2="63900"/>
                        <a14:foregroundMark x1="55625" y1="55150" x2="50625" y2="65150"/>
                        <a14:foregroundMark x1="58325" y1="56100" x2="57425" y2="82900"/>
                        <a14:foregroundMark x1="67425" y1="61400" x2="67500" y2="72200"/>
                        <a14:backgroundMark x1="92300" y1="15700" x2="92300" y2="15700"/>
                        <a14:backgroundMark x1="91100" y1="16100" x2="91100" y2="16100"/>
                        <a14:backgroundMark x1="85625" y1="15850" x2="85625" y2="15850"/>
                        <a14:backgroundMark x1="84725" y1="12650" x2="84725" y2="12650"/>
                        <a14:backgroundMark x1="91400" y1="15950" x2="91400" y2="15950"/>
                        <a14:backgroundMark x1="91400" y1="15950" x2="91400" y2="15950"/>
                        <a14:backgroundMark x1="85425" y1="16100" x2="85425" y2="16100"/>
                        <a14:backgroundMark x1="85000" y1="10700" x2="84650" y2="9700"/>
                        <a14:backgroundMark x1="85350" y1="15950" x2="85350" y2="15950"/>
                        <a14:backgroundMark x1="85550" y1="15950" x2="85700" y2="155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57500" y="2385060"/>
            <a:ext cx="5516880" cy="27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0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85</Words>
  <Application>Microsoft Office PowerPoint</Application>
  <PresentationFormat>On-screen Show (16:9)</PresentationFormat>
  <Paragraphs>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Livvic Light</vt:lpstr>
      <vt:lpstr>Nunito Light</vt:lpstr>
      <vt:lpstr>Roboto Condensed</vt:lpstr>
      <vt:lpstr>Arial</vt:lpstr>
      <vt:lpstr>Maven Pro</vt:lpstr>
      <vt:lpstr>Share Tech</vt:lpstr>
      <vt:lpstr>Data Science Consulting by Slidesgo</vt:lpstr>
      <vt:lpstr>PowerPoint Presentation</vt:lpstr>
      <vt:lpstr>PROJECT DESCRIPTION</vt:lpstr>
      <vt:lpstr>Target audience</vt:lpstr>
      <vt:lpstr>What is Dockyter trying to solve ?</vt:lpstr>
      <vt:lpstr>Overview</vt:lpstr>
      <vt:lpstr>Overview</vt:lpstr>
      <vt:lpstr>Config file &amp; Profiles</vt:lpstr>
      <vt:lpstr>Tests and workflows</vt:lpstr>
      <vt:lpstr>Security and API </vt:lpstr>
      <vt:lpstr>CONCLUSION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CONSULTING</dc:title>
  <cp:lastModifiedBy>Masserey Simon</cp:lastModifiedBy>
  <cp:revision>84</cp:revision>
  <dcterms:modified xsi:type="dcterms:W3CDTF">2025-12-15T10:42:20Z</dcterms:modified>
</cp:coreProperties>
</file>